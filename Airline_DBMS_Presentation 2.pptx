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relational design covering reservations, payments and flight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33A"/>
                </a:solidFill>
              </a:rPr>
              <a:t>DATABASE MANAGEMENT SYSTEMS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Design and Implementation of a Database Management System for Airline Reservation and Flight Operations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F5"/>
                </a:solidFill>
              </a:rPr>
              <a:t>Normalization  •  Data Dictionary  •  Triggers  •  Queries  •  Views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</a:rPr>
              <a:t>MySQL 8  |  3NF schema  |  9 tables  |  3 triggers  |  14 queries  |  5 views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Overview &amp; Scope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474720" cy="2834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3474720" cy="8229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Reservation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94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Passenger profiles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Seat selection by class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Booking lifecycle: HOLD → CONFIRMED → CANCELLED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474720" cy="2834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63040"/>
            <a:ext cx="3474720" cy="82296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Flight Operations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194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Airports, routes, schedules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Aircraft fleet &amp; seat maps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Crew assignment per flight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474720" cy="28346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63040"/>
            <a:ext cx="3474720" cy="8229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Revenue &amp; Control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194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Payments linked to bookings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Triggers enforce business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315C"/>
                </a:solidFill>
              </a:rPr>
              <a:t>Views power reporting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Entities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AIRPORT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01368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01368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AIRCRAFT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54096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54096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SEAT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06824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06824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FLIGHT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59552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59552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PASSENGER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12280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BOOKING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65008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65008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PAYMENT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17736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17736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70464" y="5029200"/>
            <a:ext cx="1161288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70464" y="502920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FLIGHT_CREW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</a:rPr>
              <a:t>Core flow: Passenger → Booking → Seat on Flight → Payment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Normalization Pipeline: UNF → 1NF → 2NF → 3NF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2560320" cy="4206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2560320" cy="7315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UNF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Single wide sheet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8600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booking, passenger, flight, airport names, aircraft model, seat, payment, crew_list in one row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Crew list is multi-valued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Heavy redundancy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2560320" cy="4206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371600"/>
            <a:ext cx="2560320" cy="73152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1NF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Atomic values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28600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Split crew_list into one row per crew member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Choose key (booking_id, crew_id)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No repeating groups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➔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560320" cy="4206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2NF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partial dependency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28600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Flight, passenger and crew data depend on part of the key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Extract PASSENGER, FLIGHT, CREW, FLIGHT_CREW, BOOKING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➔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052560" y="1371600"/>
            <a:ext cx="2560320" cy="4206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371600"/>
            <a:ext cx="2560320" cy="731520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3544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3NF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transitive dependency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228600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airport_code → city, country → AIRPORT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aircraft_id → model, seats → AIRCRAFT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seat_id → class → SEAT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</a:rPr>
              <a:t>booking_id → payment → PAYMENT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Result: 9 relations with no update, insert or delete anomalies, joined through foreign keys.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SCHEMA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Structured Data Dictionary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75488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Key attributes (type)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airport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airport_code CHAR(3)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name, city, country VARCHAR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aircraft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aircraft_id 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model VARCHAR, total_seats INT, status ENUM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seat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seat_id 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aircraft_id, seat_no VARCHAR(4), class ENUM(ECO,BUS,FIRST)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aircraft_id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flight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flight_id 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flight_no, dep_time, arr_time DATETIME, base_fare DECIMAL, status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origin_code, dest_code, aircraft_id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passenger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passenger_id 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full_name, email UNIQUE, phone, passport_no UNIQUE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booking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booking_id 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booking_date, status ENUM, fare DECIMAL(10,2)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passenger_id, flight_id, seat_id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payment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payment_id 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amount DECIMAL, method ENUM, status ENUM, paid_at DATETIME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booking_id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crew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crew_id 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name, role ENUM(PILOT,CABIN), license_no UNIQUE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flight_crew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(flight_id, crew_id)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assigned_role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545"/>
                          </a:solidFill>
                        </a:rPr>
                        <a:t>flight_id, crew_id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SCHEMA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Functional Dependencies &amp; Normal-Form Check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801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280160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1280160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airport_code → name, city, country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55648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7556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AIRCRAFT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1755648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94560" y="1755648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aircraft_id → model, total_seats,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231136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2311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2231136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2231136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seat_id → aircraft_id, seat_no, class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06624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7066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FLIGHT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2706624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94560" y="2706624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flight_id → flight_no, origin, dest, aircraft_id, dep_time, arr_time, base_fare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182112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1821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PASSENGER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3182112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94560" y="3182112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passenger_id → name, email, phone, passport_no   |   email → passenger_id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57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3657600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94560" y="3657600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booking_id → passenger_id, flight_id, seat_id, status, fare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133088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1330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03120" y="4133088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94560" y="4133088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payment_id → booking_id, amount, method, status, paid_at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608576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6085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03120" y="4608576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194560" y="4608576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crew_id → name, role, license_no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084064"/>
            <a:ext cx="1554480" cy="402336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0840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FLIGHT_CREW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03120" y="5084064"/>
            <a:ext cx="5943600" cy="402336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194560" y="5084064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(flight_id, crew_id) → assigned_role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12480" y="1280160"/>
            <a:ext cx="3200400" cy="4206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410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</a:rPr>
              <a:t>Verification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8641080" y="187452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Every determinant is a candidate key (or superkey) of its table → 3NF and BCNF hold.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No non-key attribute depends on another non-key attribute.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Derived facts (city, model, seat class) are stored once and reached via joins.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BUSINESS RULES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Triggers (1/2): Overlap &amp; Seat/Bed Lock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1. Overlap trigger: no aircraft in two flights at once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1064240" cy="19659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645920"/>
            <a:ext cx="108447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trg_flight_overlap BEFORE INSERT ON flight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EXISTS (SELECT 1 FROM flight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WHERE aircraft_id = NEW.aircraft_id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AND NEW.dep_time &lt; arr_time AND NEW.arr_time &gt; dep_time)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 SET MESSAGE_TEXT = 'Aircraft schedule overlap';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2. Seat/Bed lock trigger: a seat or lie-flat bed is held by one active booking per flight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1783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160520"/>
            <a:ext cx="10844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trg_seat_lock BEFORE INSERT ON booking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EXISTS (SELECT 1 FROM booking WHERE flight_id = NEW.flight_id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AND seat_id = NEW.seat_id AND status &lt;&gt; 'CANCELLED')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 SET MESSAGE_TEXT = 'Seat already locked';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Both raise error 45000 and roll back the offending INSERT.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BUSINESS RULES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Triggers (2/2): Payments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3. Payment validation and booking confirmation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6766560" cy="44805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645920"/>
            <a:ext cx="654710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trg_payment_check BEFORE INSERT ON payment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v_fare DECIMAL(10,2);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fare INTO v_fare FROM booking WHERE booking_id = NEW.booking_id;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NEW.amount &lt; v_fare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 SET MESSAGE_TEXT = 'Payment below fare';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trg_payment_confirm AFTER INSERT ON payment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NEW.status = 'PAID'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booking SET status = 'CONFIRMED' WHERE booking_id = NEW.booking_id;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3258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Guards against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trg_flight_overlap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BEFORE INSERT flight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Aircraft double-scheduling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trg_seat_lock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BEFORE INSERT booking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Double-booked seats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trg_payment_check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BEFORE INSERT payment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Underpayment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trg_payment_confirm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AFTER INSERT payment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Unconfirmed paid bookings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SQL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Demonstration Queries: Joins (Q1–Q5)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07008"/>
            <a:ext cx="457200" cy="457200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887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Passenger itineraries (INNER JOIN, 3 tables)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1463040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52728" y="1508760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p.full_name, f.flight_no, f.dep_time, b.status FROM booking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passenger p USING(passenger_id) JOIN flight f USING(flight_id);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85416"/>
            <a:ext cx="457200" cy="457200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16712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Routes with city names (self-join on airport)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43000" y="2441448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52728" y="2487168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f.flight_no, o.city AS origin, d.city AS destination FROM flight 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airport o ON f.origin_code=o.airport_code JOIN airport d ON f.dest_code=d.airport_code;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145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Crew roster per flight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3000" y="3419856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52728" y="3465576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f.flight_no, c.name, c.role FROM flight_crew fc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crew c USING(crew_id) JOIN flight f USING(flight_id) ORDER BY f.flight_no;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123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Bookings with no payment (LEFT JOIN)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43000" y="4398264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52728" y="4443984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b.booking_id, p.full_name FROM booking b JOIN passenger p USING(passenger_id)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payment y USING(booking_id) WHERE y.payment_id IS NULL;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1023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Seat map of flight 101 with occupancy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43000" y="5376672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52728" y="5422392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s.seat_no, s.class, b.booking_id FROM flight f JOIN seat s ON s.aircraft_id=f.aircraft_id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booking b ON b.seat_id=s.seat_id AND b.flight_id=f.flight_id WHERE f.flight_id=101;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SQL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Demonstration Queries: Subqueries (Q6–Q9)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07008"/>
            <a:ext cx="457200" cy="457200"/>
          </a:xfrm>
          <a:prstGeom prst="ellipse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887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Flights priced above the average fare (scalar subquery)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1463040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52728" y="1508760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flight_no, base_fare FROM flight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base_fare &gt; (SELECT AVG(base_fare) FROM flight);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85416"/>
            <a:ext cx="457200" cy="457200"/>
          </a:xfrm>
          <a:prstGeom prst="ellipse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16712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Passengers who never booked (NOT IN)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43000" y="2441448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52728" y="2487168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full_name FROM passenger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passenger_id NOT IN (SELECT passenger_id FROM booking);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145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Busiest flight by bookings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3000" y="3419856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52728" y="3465576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flight_no FROM flight WHERE flight_id = (SELECT flight_id FROM booking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flight_id ORDER BY COUNT(*) DESC LIMIT 1);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123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Passengers with a payment above 20,000 (correlated EXISTS)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43000" y="4398264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52728" y="4443984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full_name FROM passenger p WHERE EXISTS (SELECT 1 FROM booking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payment y USING(booking_id) WHERE b.passenger_id=p.passenger_id AND y.amount&gt;20000);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SQL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Demonstration Queries: Aggregations (Q10–Q14)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07008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887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Revenue per flight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1463040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52728" y="1508760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b.flight_id, SUM(y.amount) AS revenue FROM booking b JOIN payment y USING(booking_id)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y.status='PAID' GROUP BY b.flight_id;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85416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16712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Load factor (% seats sold)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43000" y="2441448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52728" y="2487168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f.flight_no, ROUND(COUNT(b.booking_id)*100/a.total_seats,1) AS load_pct FROM flight 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aircraft a USING(aircraft_id) LEFT JOIN booking b ON b.flight_id=f.flight_id GROUP BY f.flight_id;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1455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Bookings by cabin class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3000" y="3419856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52728" y="3465576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s.class, COUNT(*) AS bookings FROM booking b JOIN seat s USING(seat_id)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s.class;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1239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Routes operated at least twice (HAVING)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43000" y="4398264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52728" y="4443984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origin_code, dest_code, COUNT(*) AS trips FROM flight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origin_code, dest_code HAVING COUNT(*) &gt;= 2;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1023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Monthly revenue trend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43000" y="5376672"/>
            <a:ext cx="1046988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52728" y="5422392"/>
            <a:ext cx="10250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DATE_FORMAT(paid_at,'%Y-%m') AS month, SUM(amount) AS revenue FROM payment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status='PAID' GROUP BY month ORDER BY month;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33A"/>
                </a:solidFill>
              </a:rPr>
              <a:t>VIEWS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Five Views for Reporting &amp; Access Control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Airline Reservation &amp; Flight Operations DBMS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064240" cy="777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25880"/>
            <a:ext cx="109728" cy="77724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325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v_flight_schedule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325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</a:rPr>
              <a:t>Flights with origin/destination city, aircraft model and status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1325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Operations desk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221992"/>
            <a:ext cx="11064240" cy="777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221992"/>
            <a:ext cx="109728" cy="777240"/>
          </a:xfrm>
          <a:prstGeom prst="rect">
            <a:avLst/>
          </a:prstGeom>
          <a:solidFill>
            <a:srgbClr val="2FBF9B"/>
          </a:solidFill>
          <a:ln w="12700">
            <a:solidFill>
              <a:srgbClr val="2FBF9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22219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v_passenger_itinerary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2219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</a:rPr>
              <a:t>Passenger, flight, seat and booking status in one row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22199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Customer service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18104"/>
            <a:ext cx="11064240" cy="777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18104"/>
            <a:ext cx="109728" cy="777240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11810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v_seat_availability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311810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</a:rPr>
              <a:t>Seats per flight flagged AVAILABLE or LOCKED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1810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Booking engine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14216"/>
            <a:ext cx="11064240" cy="777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14216"/>
            <a:ext cx="109728" cy="7772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01421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v_revenue_summary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40142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</a:rPr>
              <a:t>Paid revenue and load factor per flight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401421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Finance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10328"/>
            <a:ext cx="11064240" cy="777240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910328"/>
            <a:ext cx="109728" cy="7772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9103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v_crew_roster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491032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</a:rPr>
              <a:t>Crew names, roles and assigned flights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4910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</a:rPr>
              <a:t>Crew planning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CREATE VIEW v_seat_availability AS SELECT f.flight_id, s.seat_no, IF(b.booking_id IS NULL,'AVAILABLE','LOCKED') AS state FROM flight f JOIN seat s USING(aircraft_id) LEFT JOIN booking b ON b.seat_id=s.seat_id AND b.flight_id=f.flight_id AND b.status&lt;&gt;'CANCELLED';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98E0"/>
                </a:solidFill>
              </a:rPr>
              <a:t>3NF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Redundancy-free, 9-table schema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33A"/>
                </a:solidFill>
              </a:rPr>
              <a:t>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Triggers enforce overlap, seat-lock and payment rules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BF9B"/>
                </a:solidFill>
              </a:rPr>
              <a:t>14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Queries across joins, subqueries and aggregates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D99AE"/>
                </a:solidFill>
              </a:rPr>
              <a:t>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Views for role-based reporting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FD3F5"/>
                </a:solidFill>
              </a:rPr>
              <a:t>Future scope: fare classes and dynamic pricing, loyalty programme, baggage tracking, partitioning flight history, role-based GRANTs on views.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line DB">
  <a:themeElements>
    <a:clrScheme name="Airline DB">
      <a:dk1>
        <a:srgbClr val="0B2545"/>
      </a:dk1>
      <a:lt1>
        <a:srgbClr val="FFFFFF"/>
      </a:lt1>
      <a:dk2>
        <a:srgbClr val="13315C"/>
      </a:dk2>
      <a:lt2>
        <a:srgbClr val="F2F6FB"/>
      </a:lt2>
      <a:accent1>
        <a:srgbClr val="1B98E0"/>
      </a:accent1>
      <a:accent2>
        <a:srgbClr val="F2A33A"/>
      </a:accent2>
      <a:accent3>
        <a:srgbClr val="2FBF9B"/>
      </a:accent3>
      <a:accent4>
        <a:srgbClr val="E4572E"/>
      </a:accent4>
      <a:accent5>
        <a:srgbClr val="8D99AE"/>
      </a:accent5>
      <a:accent6>
        <a:srgbClr val="6C5CE7"/>
      </a:accent6>
      <a:hlink>
        <a:srgbClr val="1B98E0"/>
      </a:hlink>
      <a:folHlink>
        <a:srgbClr val="8D99AE"/>
      </a:folHlink>
    </a:clrScheme>
    <a:fontScheme name="Airline D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a DBMS for Airline Reservation and Flight Operations</dc:title>
  <dc:subject>PptxGenJS Presentation</dc:subject>
  <dc:creator>PptxGenJS</dc:creator>
  <cp:lastModifiedBy>PptxGenJS</cp:lastModifiedBy>
  <cp:revision>1</cp:revision>
  <dcterms:created xsi:type="dcterms:W3CDTF">2026-10-10T10:14:29Z</dcterms:created>
  <dcterms:modified xsi:type="dcterms:W3CDTF">2026-10-10T10:14:29Z</dcterms:modified>
</cp:coreProperties>
</file>