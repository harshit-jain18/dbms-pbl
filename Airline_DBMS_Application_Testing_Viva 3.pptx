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A33A"/>
                </a:solidFill>
              </a:rPr>
              <a:t>APPLICATION LAYER, TESTING &amp; VIVA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202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Airline Reservation and Flight Operations DBMS: Implementation, Workflows and Validation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D3F5"/>
                </a:solidFill>
              </a:rPr>
              <a:t>3-Tier Architecture  •  CRUD Workflows  •  Defensive Error Handling  •  Test Matrix  •  Viva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</a:rPr>
              <a:t>Web client  |  Flask REST API  |  MySQL 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3-Tier Application Architecture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Operations: Application Layer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200400" cy="32918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71600"/>
            <a:ext cx="3200400" cy="77724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444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Tier 1: Presentation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HTML / CSS / JavaScript client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37744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</a:rPr>
              <a:t>Passenger intake &amp; booking forms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</a:rPr>
              <a:t>Seat map and payment screens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</a:rPr>
              <a:t>Client-side input checks (UX only)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⇄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108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</a:rPr>
              <a:t>HTTPS / JSON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80560" y="1371600"/>
            <a:ext cx="3200400" cy="32918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1371600"/>
            <a:ext cx="3200400" cy="777240"/>
          </a:xfrm>
          <a:prstGeom prst="rect">
            <a:avLst/>
          </a:prstGeom>
          <a:solidFill>
            <a:srgbClr val="2FBF9B"/>
          </a:solidFill>
          <a:ln w="12700">
            <a:solidFill>
              <a:srgbClr val="2FBF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444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Tier 2: Application Logic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Flask REST API (Python)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37744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</a:rPr>
              <a:t>Routing, validation, business rules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</a:rPr>
              <a:t>Transaction control &amp; error mapping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</a:rPr>
              <a:t>Parameterised SQL only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⇄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3108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</a:rPr>
              <a:t>SQL via connector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412480" y="1371600"/>
            <a:ext cx="3200400" cy="32918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1371600"/>
            <a:ext cx="3200400" cy="777240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95360" y="1444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Tier 3: Data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MySQL 8 database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237744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</a:rPr>
              <a:t>9 tables in 3NF, PK/FK/UNIQUE/CHECK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</a:rPr>
              <a:t>3 triggers, 5 views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</a:rPr>
              <a:t>ACID transactions (InnoDB)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3A"/>
                </a:solidFill>
              </a:rPr>
              <a:t>Why 3 tiers?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41324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The browser never touches the database. Rules live in one place, each tier can be changed or scaled independently, and the credentials stay on the server.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REST API Surface &amp; Request Lifecycle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Operations: Application Layer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2103120"/>
                <a:gridCol w="1554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Table(s)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POST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/api/passengers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Register passenger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passenger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/api/flights?from=&amp;to=&amp;date=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Search flights with open seats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flight, airport, v_seat_availability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POST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/api/bookings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Create booking (HOLD)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booking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PUT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/api/bookings/{id}/seat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Allocate or change seat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booking, seat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POST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/api/payments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Pay and confirm booking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payment, booking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DELETE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/api/bookings/{id}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Cancel booking, release seat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booking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8638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</a:rPr>
              <a:t>Request lifecycle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863840" y="1828800"/>
            <a:ext cx="457200" cy="457200"/>
          </a:xfrm>
          <a:prstGeom prst="ellipse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15C"/>
                </a:solidFill>
              </a:rPr>
              <a:t>Client sends JSON request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863840" y="2651760"/>
            <a:ext cx="457200" cy="457200"/>
          </a:xfrm>
          <a:prstGeom prst="ellipse">
            <a:avLst/>
          </a:prstGeom>
          <a:solidFill>
            <a:srgbClr val="2FBF9B"/>
          </a:solidFill>
          <a:ln w="12700">
            <a:solidFill>
              <a:srgbClr val="2FBF9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15C"/>
                </a:solidFill>
              </a:rPr>
              <a:t>API validates type, range, required fields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863840" y="3474720"/>
            <a:ext cx="457200" cy="4572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3429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15C"/>
                </a:solidFill>
              </a:rPr>
              <a:t>API opens a transaction and runs parameterised SQL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863840" y="429768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638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0392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15C"/>
                </a:solidFill>
              </a:rPr>
              <a:t>Triggers and constraints enforce DB rules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863840" y="5120640"/>
            <a:ext cx="457200" cy="45720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638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5074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15C"/>
                </a:solidFill>
              </a:rPr>
              <a:t>COMMIT or ROLLBACK; API maps result to HTTP status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WORKFLOWS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Full CRUD Workflow: Intake ➔ Booking ➔ Verification ➔ Seat/Bed ➔ Billing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Operations: Application Layer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011680" cy="210312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Intake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031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Create passenger record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88920" y="1463040"/>
            <a:ext cx="2011680" cy="2103120"/>
          </a:xfrm>
          <a:prstGeom prst="rect">
            <a:avLst/>
          </a:prstGeom>
          <a:solidFill>
            <a:srgbClr val="2FBF9B"/>
          </a:solidFill>
          <a:ln w="12700">
            <a:solidFill>
              <a:srgbClr val="2FBF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Booking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1031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Search flight, create HOLD booking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1463040"/>
            <a:ext cx="2011680" cy="2103120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6636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 Verification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21031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Check passport, fare and eligibility (the diagnosis step)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➔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69480" y="1463040"/>
            <a:ext cx="2011680" cy="21031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Seat / Bed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1031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Lock seat or lie-flat bed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09760" y="1463040"/>
            <a:ext cx="2011680" cy="21031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4692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5. Billing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646920" y="21031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Record payment, confirm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Each stage exercises all four CRUD operations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2606040" cy="137160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434840"/>
            <a:ext cx="640080" cy="1371600"/>
          </a:xfrm>
          <a:prstGeom prst="rect">
            <a:avLst/>
          </a:prstGeom>
          <a:solidFill>
            <a:srgbClr val="2FBF9B"/>
          </a:solidFill>
          <a:ln w="12700">
            <a:solidFill>
              <a:srgbClr val="2FBF9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43484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Create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86460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</a:rPr>
              <a:t>INSERT with validated, parameterised values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337560" y="4434840"/>
            <a:ext cx="2606040" cy="137160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4434840"/>
            <a:ext cx="640080" cy="137160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337560" y="443484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</a:t>
            </a:r>
            <a:endParaRPr lang="en-US" sz="28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Read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0" y="486460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</a:rPr>
              <a:t>SELECT via joins and views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26480" y="4434840"/>
            <a:ext cx="2606040" cy="137160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4434840"/>
            <a:ext cx="640080" cy="1371600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26480" y="443484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</a:t>
            </a:r>
            <a:endParaRPr lang="en-US" sz="2800" dirty="0"/>
          </a:p>
        </p:txBody>
      </p:sp>
      <p:sp>
        <p:nvSpPr>
          <p:cNvPr id="41" name="Text 39"/>
          <p:cNvSpPr txBox="1"/>
          <p:nvPr/>
        </p:nvSpPr>
        <p:spPr>
          <a:xfrm>
            <a:off x="690372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Update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486460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</a:rPr>
              <a:t>Status and seat changes inside a transaction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915400" y="4434840"/>
            <a:ext cx="2606040" cy="137160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15400" y="4434840"/>
            <a:ext cx="640080" cy="13716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915400" y="443484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</a:t>
            </a:r>
            <a:endParaRPr lang="en-US" sz="2800" dirty="0"/>
          </a:p>
        </p:txBody>
      </p:sp>
      <p:sp>
        <p:nvSpPr>
          <p:cNvPr id="46" name="Text 44"/>
          <p:cNvSpPr txBox="1"/>
          <p:nvPr/>
        </p:nvSpPr>
        <p:spPr>
          <a:xfrm>
            <a:off x="969264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Delete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9692640" y="486460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</a:rPr>
              <a:t>Cancel (soft) or delete only if no dependants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WORKFLOWS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CRUD Operations by Workflow Stage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Operations: Application Layer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377440"/>
                <a:gridCol w="2468880"/>
                <a:gridCol w="228600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Create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Update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Delete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Intake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INSERT passenger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Find by passport or email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Edit contact details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Delete only if no bookings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Booking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INSERT booking (HOLD)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Flight search with open seats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Change flight, same fare class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Cancel: status = CANCELLED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Verification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Record document check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View check 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Mark VERIFIED or REJECTED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Void failed check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Seat / Bed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Assign seat to booking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v_seat_availability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Move to another seat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Release seat on cancel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Billing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INSERT payment (trigger validates)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v_revenue_summary, invoice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Booking → CONFIRMED; refund 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Void unpaid HOLD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Verification stage maps the clinical "diagnosis" step to airline document and fare checks.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WORKFLOWS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Implementation Snippet: Transactional Booking Endpoint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Operations: Application Layer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7223760" cy="49377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353312"/>
            <a:ext cx="6949440" cy="479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@app.post("/api/bookings")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create_booking():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request.get_json(silent=True) or {}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missing = [k for k in ("passenger_id","flight_id","seat_id") if k not in d]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missing: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err(400, f"Missing fields: {missing}")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cn = pool.get_connection()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cn.start_transaction()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cn.cursor()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cur.execute("SELECT base_fare FROM flight WHERE flight_id=%s", (d["flight_id"],))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row = cur.fetchone()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row is None: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err(404, "Flight not found")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cur.execute("INSERT INTO booking (passenger_id,flight_id,seat_id,fare,status)"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 VALUES (%s,%s,%s,%s,'HOLD')",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(d["passenger_id"], d["flight_id"], d["seat_id"], row[0]))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cn.commit()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ok(201, {"booking_id": cur.lastrowid})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mysql.connector.Error as 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cn.rollback()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err(409 if e.sqlstate == "45000" else 500, e.msg)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finally: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cn.close()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</a:rPr>
              <a:t>Key points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1737360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</a:rPr>
              <a:t>Placeholders (%s) keep SQL and data separate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</a:rPr>
              <a:t>Fare is read from the database, never trusted from the client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</a:rPr>
              <a:t>Trigger error 45000 becomes HTTP 409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</a:rPr>
              <a:t>Rollback leaves no half-written booking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</a:rPr>
              <a:t>Connection always released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ERROR HANDLING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Defensive Error Handling: Four Layers of Defence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Operations: Application Layer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11064240" cy="100584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325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Client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132588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Required fields, formats, date and number ranges. Fast feedback only; never trusted.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10241280" cy="1005840"/>
          </a:xfrm>
          <a:prstGeom prst="rect">
            <a:avLst/>
          </a:prstGeom>
          <a:solidFill>
            <a:srgbClr val="2FBF9B"/>
          </a:solidFill>
          <a:ln w="12700">
            <a:solidFill>
              <a:srgbClr val="2FBF9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API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514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Schema checks, type coercion, allow-listed values, safe error messages with no stack traces.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9418320" cy="1005840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7033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Transaction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7033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All-or-nothing writes; ROLLBACK on any exception; connection closed in finally.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8595360" cy="10058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8920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Database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489204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NOT NULL, UNIQUE, FOREIGN KEY, CHECK and the three triggers are the last line of defence.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Principle: validate early, enforce centrally, fail safely, and never expose internals.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ERROR HANDLING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Defensive Error Handling: Live Demonstration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Operations: Application Layer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377440"/>
                <a:gridCol w="822960"/>
                <a:gridCol w="4114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Bad input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Caught by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HTTP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Message returned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Booking with missing seat_id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API validation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400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Missing fields: [seat_id]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Unknown flight_id = 9999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API existence check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404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Flight not found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Same seat booked twice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trg_seat_lock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409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Seat already locked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Aircraft scheduled in overlapping flights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trg_flight_overlap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409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Aircraft schedule overlap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Payment lower than fare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trg_payment_check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422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Payment below fare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Duplicate passport number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UNIQUE constraint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409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Passenger already registered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Delete passenger who has bookings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FOREIGN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409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Cannot delete: bookings exist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Search text: ' OR 1=1 --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Parameterised query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0 results, no data leak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Demo steps: send each request from the client or curl, show the response, then show the table is unchanged.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TESTING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10-Point Test Execution Matrix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Operations: Application Layer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194560"/>
                <a:gridCol w="3108960"/>
                <a:gridCol w="4114800"/>
                <a:gridCol w="10972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Input / action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Register passenger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Valid name, email, passport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201, row created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☐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Duplicate passport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Re-insert same passport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409, no new row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☐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Valid booking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Free seat on flight 101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201, status HOLD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☐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Seat lock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Book same seat again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409 Seat already locked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☐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Aircraft overlap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Insert flight overlapping times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Rejected by trigger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☐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Underpayment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Amount below fare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422, no payment row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☐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Valid payment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Amount equals fare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Payment saved, booking CONFIRMED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☐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Cancel booking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DELETE /bookings/{id}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CANCELLED, seat available again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☐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Referential integrity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Delete passenger with bookings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409, passenger kept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☐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SQL injection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' OR 1=1 -- in search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Treated as text, 0 rows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☐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</a:rPr>
              <a:t>Tick the Status column (Pass / Fail) as each case is executed during the demo.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VIVA DEFENCE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Viva Defence (1/2): Design Questions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Operations: Application Layer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11064240" cy="896112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34440"/>
            <a:ext cx="91440" cy="896112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2893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Q. Why a 3-tier architecture instead of the client talking to MySQL?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5819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</a:rPr>
              <a:t>Security (no DB credentials in the browser), one place for business rules, and independent scaling and maintenance of each tier.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11064240" cy="896112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240280"/>
            <a:ext cx="91440" cy="896112"/>
          </a:xfrm>
          <a:prstGeom prst="rect">
            <a:avLst/>
          </a:prstGeom>
          <a:solidFill>
            <a:srgbClr val="2FBF9B"/>
          </a:solidFill>
          <a:ln w="12700">
            <a:solidFill>
              <a:srgbClr val="2FBF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29514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Q. Why normalise to 3NF?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58775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</a:rPr>
              <a:t>It removes redundancy and update, insert and delete anomalies: airport, aircraft and seat details are stored once and joined when needed.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1064240" cy="896112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46120"/>
            <a:ext cx="91440" cy="896112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3009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Q. What is the difference between 3NF and BCNF?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59359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</a:rPr>
              <a:t>3NF allows a non-trivial dependency if the right side is a prime attribute; BCNF requires every determinant to be a superkey. Our schema satisfies both.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1064240" cy="896112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51960"/>
            <a:ext cx="91440" cy="896112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30682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Q. Why use views?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5994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</a:rPr>
              <a:t>They hide joins, simplify reports, and let each role (finance, crew planning) see only the columns it needs.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64240" cy="896112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257800"/>
            <a:ext cx="91440" cy="89611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31266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Q. Which indexes would you add?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6052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</a:rPr>
              <a:t>Foreign keys (flight_id, passenger_id, seat_id), a composite index on (flight_id, seat_id) for seat lookups, and flight (origin_code, dest_code, dep_time) for search.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VIVA DEFENCE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Viva Defence (2/2): Reliability Questions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Operations: Application Layer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11064240" cy="896112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34440"/>
            <a:ext cx="91440" cy="896112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2893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Q. Why triggers when the API already validates?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5819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</a:rPr>
              <a:t>Triggers protect the data even if another client, script or admin bypasses the API. The database stays correct on its own.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11064240" cy="896112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240280"/>
            <a:ext cx="91440" cy="896112"/>
          </a:xfrm>
          <a:prstGeom prst="rect">
            <a:avLst/>
          </a:prstGeom>
          <a:solidFill>
            <a:srgbClr val="2FBF9B"/>
          </a:solidFill>
          <a:ln w="12700">
            <a:solidFill>
              <a:srgbClr val="2FBF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29514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Q. How do you prevent two users booking the same seat at once?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58775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</a:rPr>
              <a:t>Transactions plus the seat-lock trigger; for strict safety, a UNIQUE key on (flight_id, seat_id) for active bookings or SELECT ... FOR UPDATE on the seat row.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1064240" cy="896112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46120"/>
            <a:ext cx="91440" cy="896112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3009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Q. Explain ACID in the booking flow.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59359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</a:rPr>
              <a:t>Atomic: booking and payment succeed together or not at all. Consistent: constraints hold. Isolated: concurrent bookings do not interfere. Durable: committed rows survive a crash.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1064240" cy="896112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51960"/>
            <a:ext cx="91440" cy="896112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30682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Q. What if payment fails after the seat is held?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5994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</a:rPr>
              <a:t>The transaction rolls back or the booking stays in HOLD, and a scheduled job cancels expired holds to free the seat.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64240" cy="896112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257800"/>
            <a:ext cx="91440" cy="89611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31266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</a:rPr>
              <a:t>Q. How is SQL injection prevented?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6052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</a:rPr>
              <a:t>Every query uses bound parameters, inputs are validated, and the DB account has least privilege.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Summary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98E0"/>
                </a:solidFill>
              </a:rPr>
              <a:t>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Tiers: client, API, database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FBF9B"/>
                </a:solidFill>
              </a:rPr>
              <a:t>5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Workflow stages with full CRUD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33A"/>
                </a:solidFill>
              </a:rPr>
              <a:t>4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Layers of defensive error handling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C5CE7"/>
                </a:solidFill>
              </a:rPr>
              <a:t>10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Test cases in the execution matrix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FD3F5"/>
                </a:solidFill>
              </a:rPr>
              <a:t>Result: a reservation system that stays correct under bad input, concurrent users and partial failures.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rline DB App">
  <a:themeElements>
    <a:clrScheme name="Airline DB App">
      <a:dk1>
        <a:srgbClr val="0B2545"/>
      </a:dk1>
      <a:lt1>
        <a:srgbClr val="FFFFFF"/>
      </a:lt1>
      <a:dk2>
        <a:srgbClr val="13315C"/>
      </a:dk2>
      <a:lt2>
        <a:srgbClr val="F2F6FB"/>
      </a:lt2>
      <a:accent1>
        <a:srgbClr val="1B98E0"/>
      </a:accent1>
      <a:accent2>
        <a:srgbClr val="F2A33A"/>
      </a:accent2>
      <a:accent3>
        <a:srgbClr val="2FBF9B"/>
      </a:accent3>
      <a:accent4>
        <a:srgbClr val="E4572E"/>
      </a:accent4>
      <a:accent5>
        <a:srgbClr val="8D99AE"/>
      </a:accent5>
      <a:accent6>
        <a:srgbClr val="6C5CE7"/>
      </a:accent6>
      <a:hlink>
        <a:srgbClr val="1B98E0"/>
      </a:hlink>
      <a:folHlink>
        <a:srgbClr val="8D99AE"/>
      </a:folHlink>
    </a:clrScheme>
    <a:fontScheme name="Airline DB Ap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DBMS: Application Architecture, Workflows, Error Handling and Testing</dc:title>
  <dc:subject>PptxGenJS Presentation</dc:subject>
  <dc:creator>PptxGenJS</dc:creator>
  <cp:lastModifiedBy>PptxGenJS</cp:lastModifiedBy>
  <cp:revision>1</cp:revision>
  <dcterms:created xsi:type="dcterms:W3CDTF">2026-10-10T10:20:07Z</dcterms:created>
  <dcterms:modified xsi:type="dcterms:W3CDTF">2026-10-10T10:20:07Z</dcterms:modified>
</cp:coreProperties>
</file>